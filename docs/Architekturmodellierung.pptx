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CF3F7"/>
                </a:solidFill>
              </a:rPr>
              <a:t>Aether Motors  ·  Logical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CB0BC"/>
                </a:solidFill>
              </a:rPr>
              <a:t>3-Tier-Microservice-Webshop  ·  SSR Frontend, 7 Services, 2x MySQL / Redis / MinIO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57432" cy="1280160"/>
          </a:xfrm>
          <a:prstGeom prst="roundRect">
            <a:avLst/>
          </a:prstGeom>
          <a:solidFill>
            <a:srgbClr val="1F2A33"/>
          </a:solidFill>
          <a:ln w="9525">
            <a:solidFill>
              <a:srgbClr val="00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2760" y="1290320"/>
            <a:ext cx="2286000" cy="2540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DAF8"/>
                </a:solidFill>
              </a:rPr>
              <a:t>PRESENTATION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80360"/>
            <a:ext cx="11457432" cy="1828800"/>
          </a:xfrm>
          <a:prstGeom prst="roundRect">
            <a:avLst/>
          </a:prstGeom>
          <a:solidFill>
            <a:srgbClr val="1F2A33"/>
          </a:solidFill>
          <a:ln w="9525">
            <a:solidFill>
              <a:srgbClr val="00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760" y="2981960"/>
            <a:ext cx="2286000" cy="2540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DAF8"/>
                </a:solidFill>
              </a:rPr>
              <a:t>BUSINESS LOGIC 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120640"/>
            <a:ext cx="11457432" cy="1371600"/>
          </a:xfrm>
          <a:prstGeom prst="roundRect">
            <a:avLst/>
          </a:prstGeom>
          <a:solidFill>
            <a:srgbClr val="1F2A33"/>
          </a:solidFill>
          <a:ln w="9525">
            <a:solidFill>
              <a:srgbClr val="00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2760" y="5222240"/>
            <a:ext cx="2286000" cy="2540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DAF8"/>
                </a:solidFill>
              </a:rPr>
              <a:t>DATA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1600200"/>
            <a:ext cx="2286000" cy="73152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Web Shop Frontend</a:t>
            </a:r>
          </a:p>
          <a:p>
            <a:pPr algn="ctr"/>
            <a:r>
              <a:rPr sz="800">
                <a:solidFill>
                  <a:srgbClr val="9CB0BC"/>
                </a:solidFill>
              </a:rPr>
              <a:t>Browser  ·  SSR HTML + 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2876" y="1600200"/>
            <a:ext cx="2743200" cy="73152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Web Shop Backend (SSR + Gateway)</a:t>
            </a:r>
          </a:p>
          <a:p>
            <a:pPr algn="ctr"/>
            <a:r>
              <a:rPr sz="800">
                <a:solidFill>
                  <a:srgbClr val="9CB0BC"/>
                </a:solidFill>
              </a:rPr>
              <a:t>Express + EJS  ·  Port 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8956" y="1737360"/>
            <a:ext cx="1280160" cy="457200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FF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FFB64D"/>
                </a:solidFill>
              </a:rPr>
              <a:t>Load Balancer
(Elastic Scale)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1965960"/>
            <a:ext cx="1156716.0" cy="0"/>
          </a:xfrm>
          <a:prstGeom prst="bentConnector3">
            <a:avLst/>
          </a:prstGeom>
          <a:ln w="15875">
            <a:solidFill>
              <a:srgbClr val="00DAF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78758" y="1864360"/>
            <a:ext cx="73152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9CB0BC"/>
                </a:solidFill>
              </a:rPr>
              <a:t>HTTP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7902" y="3246120"/>
            <a:ext cx="2011680" cy="59436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Product Information Service</a:t>
            </a:r>
          </a:p>
          <a:p>
            <a:pPr algn="ctr"/>
            <a:r>
              <a:rPr sz="800">
                <a:solidFill>
                  <a:srgbClr val="9CB0BC"/>
                </a:solidFill>
              </a:rPr>
              <a:t>Node  ·  Port 3001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1724" y="3246120"/>
            <a:ext cx="2011680" cy="59436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Shopping Cart Service</a:t>
            </a:r>
          </a:p>
          <a:p>
            <a:pPr algn="ctr"/>
            <a:r>
              <a:rPr sz="800">
                <a:solidFill>
                  <a:srgbClr val="9CB0BC"/>
                </a:solidFill>
              </a:rPr>
              <a:t>Node  ·  Port 3002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5547" y="3246120"/>
            <a:ext cx="2011680" cy="59436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Order Service</a:t>
            </a:r>
          </a:p>
          <a:p>
            <a:pPr algn="ctr"/>
            <a:r>
              <a:rPr sz="800">
                <a:solidFill>
                  <a:srgbClr val="9CB0BC"/>
                </a:solidFill>
              </a:rPr>
              <a:t>Node  ·  Port 3003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9369" y="3246120"/>
            <a:ext cx="2011680" cy="59436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Media Service</a:t>
            </a:r>
          </a:p>
          <a:p>
            <a:pPr algn="ctr"/>
            <a:r>
              <a:rPr sz="800">
                <a:solidFill>
                  <a:srgbClr val="9CB0BC"/>
                </a:solidFill>
              </a:rPr>
              <a:t>Node  ·  Port 3004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21358" y="3977640"/>
            <a:ext cx="2011680" cy="59436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Route Service</a:t>
            </a:r>
          </a:p>
          <a:p>
            <a:pPr algn="ctr"/>
            <a:r>
              <a:rPr sz="800">
                <a:solidFill>
                  <a:srgbClr val="9CB0BC"/>
                </a:solidFill>
              </a:rPr>
              <a:t>Node  ·  Port 3005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8636" y="3977640"/>
            <a:ext cx="2011680" cy="59436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AI Service</a:t>
            </a:r>
          </a:p>
          <a:p>
            <a:pPr algn="ctr"/>
            <a:r>
              <a:rPr sz="800">
                <a:solidFill>
                  <a:srgbClr val="9CB0BC"/>
                </a:solidFill>
              </a:rPr>
              <a:t>Node + Gemini  ·  3006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5914" y="3977640"/>
            <a:ext cx="2011680" cy="59436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Roadmap Service</a:t>
            </a:r>
          </a:p>
          <a:p>
            <a:pPr algn="ctr"/>
            <a:r>
              <a:rPr sz="800">
                <a:solidFill>
                  <a:srgbClr val="9CB0BC"/>
                </a:solidFill>
              </a:rPr>
              <a:t>Node  ·  Port 3007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4476.0" y="2331720"/>
            <a:ext cx="0.0" cy="914400"/>
          </a:xfrm>
          <a:prstGeom prst="bentConnector3">
            <a:avLst/>
          </a:prstGeom>
          <a:ln w="15875">
            <a:solidFill>
              <a:srgbClr val="00DAF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28716" y="2687320"/>
            <a:ext cx="73152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9CB0BC"/>
                </a:solidFill>
              </a:rPr>
              <a:t>HTTP / JSON</a:t>
            </a:r>
          </a:p>
        </p:txBody>
      </p:sp>
      <p:sp>
        <p:nvSpPr>
          <p:cNvPr id="25" name="Can 24"/>
          <p:cNvSpPr/>
          <p:nvPr/>
        </p:nvSpPr>
        <p:spPr>
          <a:xfrm>
            <a:off x="1194206" y="5532120"/>
            <a:ext cx="1828800" cy="868680"/>
          </a:xfrm>
          <a:prstGeom prst="can">
            <a:avLst/>
          </a:prstGeom>
          <a:solidFill>
            <a:srgbClr val="004E5A"/>
          </a:solidFill>
          <a:ln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MySQL  ·  Catalog</a:t>
            </a:r>
          </a:p>
          <a:p>
            <a:pPr algn="ctr"/>
            <a:r>
              <a:rPr sz="700">
                <a:solidFill>
                  <a:srgbClr val="ECF3F7"/>
                </a:solidFill>
              </a:rPr>
              <a:t>aether_motors  ·  ADR7</a:t>
            </a:r>
          </a:p>
        </p:txBody>
      </p:sp>
      <p:sp>
        <p:nvSpPr>
          <p:cNvPr id="26" name="Can 25"/>
          <p:cNvSpPr/>
          <p:nvPr/>
        </p:nvSpPr>
        <p:spPr>
          <a:xfrm>
            <a:off x="3851452" y="5532120"/>
            <a:ext cx="1828800" cy="868680"/>
          </a:xfrm>
          <a:prstGeom prst="can">
            <a:avLst/>
          </a:prstGeom>
          <a:solidFill>
            <a:srgbClr val="004E5A"/>
          </a:solidFill>
          <a:ln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MySQL  ·  Orders</a:t>
            </a:r>
          </a:p>
          <a:p>
            <a:pPr algn="ctr"/>
            <a:r>
              <a:rPr sz="700">
                <a:solidFill>
                  <a:srgbClr val="ECF3F7"/>
                </a:solidFill>
              </a:rPr>
              <a:t>aether_orders  ·  ADR11</a:t>
            </a:r>
          </a:p>
        </p:txBody>
      </p:sp>
      <p:sp>
        <p:nvSpPr>
          <p:cNvPr id="27" name="Can 26"/>
          <p:cNvSpPr/>
          <p:nvPr/>
        </p:nvSpPr>
        <p:spPr>
          <a:xfrm>
            <a:off x="6508699" y="5532120"/>
            <a:ext cx="1828800" cy="868680"/>
          </a:xfrm>
          <a:prstGeom prst="can">
            <a:avLst/>
          </a:prstGeom>
          <a:solidFill>
            <a:srgbClr val="004E5A"/>
          </a:solidFill>
          <a:ln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Redis  ·  Cart</a:t>
            </a:r>
          </a:p>
          <a:p>
            <a:pPr algn="ctr"/>
            <a:r>
              <a:rPr sz="700">
                <a:solidFill>
                  <a:srgbClr val="ECF3F7"/>
                </a:solidFill>
              </a:rPr>
              <a:t>Sliding TTL  ·  ADR8</a:t>
            </a:r>
          </a:p>
        </p:txBody>
      </p:sp>
      <p:sp>
        <p:nvSpPr>
          <p:cNvPr id="28" name="Can 27"/>
          <p:cNvSpPr/>
          <p:nvPr/>
        </p:nvSpPr>
        <p:spPr>
          <a:xfrm>
            <a:off x="9165945" y="5532120"/>
            <a:ext cx="1828800" cy="868680"/>
          </a:xfrm>
          <a:prstGeom prst="can">
            <a:avLst/>
          </a:prstGeom>
          <a:solidFill>
            <a:srgbClr val="004E5A"/>
          </a:solidFill>
          <a:ln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MinIO  ·  Media</a:t>
            </a:r>
          </a:p>
          <a:p>
            <a:pPr algn="ctr"/>
            <a:r>
              <a:rPr sz="700">
                <a:solidFill>
                  <a:srgbClr val="ECF3F7"/>
                </a:solidFill>
              </a:rPr>
              <a:t>S3 API  ·  ADR9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053742.4" y="3840480"/>
            <a:ext cx="54864.0" cy="1691640"/>
          </a:xfrm>
          <a:prstGeom prst="bentConnector3">
            <a:avLst/>
          </a:prstGeom>
          <a:ln w="15875">
            <a:solidFill>
              <a:srgbClr val="00DAF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15414" y="4584700"/>
            <a:ext cx="73152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9CB0BC"/>
                </a:solidFill>
              </a:rPr>
              <a:t>JDBC/SQL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47564.8" y="3840480"/>
            <a:ext cx="2675534.4000000004" cy="1691640"/>
          </a:xfrm>
          <a:prstGeom prst="bentConnector3">
            <a:avLst/>
          </a:prstGeom>
          <a:ln w="15875">
            <a:solidFill>
              <a:srgbClr val="00DAF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19572" y="4584700"/>
            <a:ext cx="73152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9CB0BC"/>
                </a:solidFill>
              </a:rPr>
              <a:t>RESP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765852.8" y="3840480"/>
            <a:ext cx="2675534.4000000004" cy="1691640"/>
          </a:xfrm>
          <a:prstGeom prst="bentConnector3">
            <a:avLst/>
          </a:prstGeom>
          <a:ln w="15875">
            <a:solidFill>
              <a:srgbClr val="00DAF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37860" y="4584700"/>
            <a:ext cx="73152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9CB0BC"/>
                </a:solidFill>
              </a:rPr>
              <a:t>JDBC/SQL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10080345.6" y="3840480"/>
            <a:ext cx="54864.0" cy="1691640"/>
          </a:xfrm>
          <a:prstGeom prst="bentConnector3">
            <a:avLst/>
          </a:prstGeom>
          <a:ln w="15875">
            <a:solidFill>
              <a:srgbClr val="00DAF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742017" y="4584700"/>
            <a:ext cx="73152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i="1">
                <a:solidFill>
                  <a:srgbClr val="9CB0BC"/>
                </a:solidFill>
              </a:rPr>
              <a:t>S3 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65945" y="5212080"/>
            <a:ext cx="1828800" cy="256032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FF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FFB64D"/>
                </a:solidFill>
              </a:rPr>
              <a:t>Browser ↘ image 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92240"/>
            <a:ext cx="11457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9CB0BC"/>
                </a:solidFill>
              </a:rPr>
              <a:t>Hinweis: nur das Web Shop Backend ist öffentlich erreichbar. Microservices sind ausschließlich vom Backend aus zugänglich (HTTP/JSON).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CF3F7"/>
                </a:solidFill>
              </a:rPr>
              <a:t>Aether Motors  ·  Deployment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CB0BC"/>
                </a:solidFill>
              </a:rPr>
              <a:t>Komponenten + Ziel-Cloud-Services (DDR1–DDR9)  ·  Lokal: Docker Compose  ·  Prod: 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57432" cy="1280160"/>
          </a:xfrm>
          <a:prstGeom prst="roundRect">
            <a:avLst/>
          </a:prstGeom>
          <a:solidFill>
            <a:srgbClr val="1F2A33"/>
          </a:solidFill>
          <a:ln w="9525">
            <a:solidFill>
              <a:srgbClr val="00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2760" y="1290320"/>
            <a:ext cx="2286000" cy="2540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DAF8"/>
                </a:solidFill>
              </a:rPr>
              <a:t>PRESENTATION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80360"/>
            <a:ext cx="11457432" cy="1828800"/>
          </a:xfrm>
          <a:prstGeom prst="roundRect">
            <a:avLst/>
          </a:prstGeom>
          <a:solidFill>
            <a:srgbClr val="1F2A33"/>
          </a:solidFill>
          <a:ln w="9525">
            <a:solidFill>
              <a:srgbClr val="00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760" y="2981960"/>
            <a:ext cx="2286000" cy="2540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DAF8"/>
                </a:solidFill>
              </a:rPr>
              <a:t>BUSINESS LOGIC 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120640"/>
            <a:ext cx="11457432" cy="1234440"/>
          </a:xfrm>
          <a:prstGeom prst="roundRect">
            <a:avLst/>
          </a:prstGeom>
          <a:solidFill>
            <a:srgbClr val="1F2A33"/>
          </a:solidFill>
          <a:ln w="9525">
            <a:solidFill>
              <a:srgbClr val="00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2760" y="5222240"/>
            <a:ext cx="2286000" cy="2540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DAF8"/>
                </a:solidFill>
              </a:rPr>
              <a:t>DATA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2876" y="1600200"/>
            <a:ext cx="2743200" cy="73152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Web Shop Backend</a:t>
            </a:r>
          </a:p>
          <a:p>
            <a:pPr algn="ctr"/>
            <a:r>
              <a:rPr sz="800">
                <a:solidFill>
                  <a:srgbClr val="9CB0BC"/>
                </a:solidFill>
              </a:rPr>
              <a:t>Express + EJS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8956" y="1737360"/>
            <a:ext cx="2011680" cy="457200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FF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FFB64D"/>
                </a:solidFill>
              </a:rPr>
              <a:t>AWS Elastic Beanstalk (DDR3)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7902" y="3246120"/>
            <a:ext cx="2011680" cy="50292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Product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1724" y="3246120"/>
            <a:ext cx="2011680" cy="50292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Cart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5547" y="3246120"/>
            <a:ext cx="2011680" cy="50292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Order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29369" y="3246120"/>
            <a:ext cx="2011680" cy="50292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Media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902" y="3913632"/>
            <a:ext cx="2011680" cy="50292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Route 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1724" y="3913632"/>
            <a:ext cx="2011680" cy="50292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AI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5547" y="3913632"/>
            <a:ext cx="2011680" cy="502920"/>
          </a:xfrm>
          <a:prstGeom prst="roundRect">
            <a:avLst/>
          </a:prstGeom>
          <a:solidFill>
            <a:srgbClr val="293742"/>
          </a:solidFill>
          <a:ln w="9525"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ECF3F7"/>
                </a:solidFill>
              </a:rPr>
              <a:t>Roadmap 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35424"/>
            <a:ext cx="3108960" cy="411480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FF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FFB64D"/>
                </a:solidFill>
              </a:rPr>
              <a:t>AWS ECS Fargate (DDR4)  ·  Container per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535424"/>
            <a:ext cx="4297680" cy="411480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FF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FFB64D"/>
                </a:solidFill>
              </a:rPr>
              <a:t>Secrets via AWS Secrets Manager (DDR8)</a:t>
            </a:r>
          </a:p>
        </p:txBody>
      </p:sp>
      <p:sp>
        <p:nvSpPr>
          <p:cNvPr id="22" name="Can 21"/>
          <p:cNvSpPr/>
          <p:nvPr/>
        </p:nvSpPr>
        <p:spPr>
          <a:xfrm>
            <a:off x="1194206" y="5349240"/>
            <a:ext cx="1828800" cy="640080"/>
          </a:xfrm>
          <a:prstGeom prst="can">
            <a:avLst/>
          </a:prstGeom>
          <a:solidFill>
            <a:srgbClr val="004E5A"/>
          </a:solidFill>
          <a:ln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MySQL</a:t>
            </a:r>
          </a:p>
          <a:p>
            <a:pPr algn="ctr"/>
            <a:r>
              <a:rPr sz="700">
                <a:solidFill>
                  <a:srgbClr val="ECF3F7"/>
                </a:solidFill>
              </a:rPr>
              <a:t>Catalog</a:t>
            </a:r>
          </a:p>
        </p:txBody>
      </p:sp>
      <p:sp>
        <p:nvSpPr>
          <p:cNvPr id="23" name="Can 22"/>
          <p:cNvSpPr/>
          <p:nvPr/>
        </p:nvSpPr>
        <p:spPr>
          <a:xfrm>
            <a:off x="3851452" y="5349240"/>
            <a:ext cx="1828800" cy="640080"/>
          </a:xfrm>
          <a:prstGeom prst="can">
            <a:avLst/>
          </a:prstGeom>
          <a:solidFill>
            <a:srgbClr val="004E5A"/>
          </a:solidFill>
          <a:ln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MySQL</a:t>
            </a:r>
          </a:p>
          <a:p>
            <a:pPr algn="ctr"/>
            <a:r>
              <a:rPr sz="700">
                <a:solidFill>
                  <a:srgbClr val="ECF3F7"/>
                </a:solidFill>
              </a:rPr>
              <a:t>Orders</a:t>
            </a:r>
          </a:p>
        </p:txBody>
      </p:sp>
      <p:sp>
        <p:nvSpPr>
          <p:cNvPr id="24" name="Can 23"/>
          <p:cNvSpPr/>
          <p:nvPr/>
        </p:nvSpPr>
        <p:spPr>
          <a:xfrm>
            <a:off x="6508699" y="5349240"/>
            <a:ext cx="1828800" cy="640080"/>
          </a:xfrm>
          <a:prstGeom prst="can">
            <a:avLst/>
          </a:prstGeom>
          <a:solidFill>
            <a:srgbClr val="004E5A"/>
          </a:solidFill>
          <a:ln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Redis</a:t>
            </a:r>
          </a:p>
          <a:p>
            <a:pPr algn="ctr"/>
            <a:r>
              <a:rPr sz="700">
                <a:solidFill>
                  <a:srgbClr val="ECF3F7"/>
                </a:solidFill>
              </a:rPr>
              <a:t>Cart Cache</a:t>
            </a:r>
          </a:p>
        </p:txBody>
      </p:sp>
      <p:sp>
        <p:nvSpPr>
          <p:cNvPr id="25" name="Can 24"/>
          <p:cNvSpPr/>
          <p:nvPr/>
        </p:nvSpPr>
        <p:spPr>
          <a:xfrm>
            <a:off x="9165945" y="5349240"/>
            <a:ext cx="1828800" cy="640080"/>
          </a:xfrm>
          <a:prstGeom prst="can">
            <a:avLst/>
          </a:prstGeom>
          <a:solidFill>
            <a:srgbClr val="004E5A"/>
          </a:solidFill>
          <a:ln>
            <a:solidFill>
              <a:srgbClr val="00D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MinIO</a:t>
            </a:r>
          </a:p>
          <a:p>
            <a:pPr algn="ctr"/>
            <a:r>
              <a:rPr sz="700">
                <a:solidFill>
                  <a:srgbClr val="ECF3F7"/>
                </a:solidFill>
              </a:rPr>
              <a:t>Media Bucket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8486" y="6062472"/>
            <a:ext cx="1920240" cy="320040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FF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FFB64D"/>
                </a:solidFill>
              </a:rPr>
              <a:t>AWS RDS for MySQL (DDR5)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05732" y="6062472"/>
            <a:ext cx="1920240" cy="320040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FF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FFB64D"/>
                </a:solidFill>
              </a:rPr>
              <a:t>AWS RDS for MySQL (DDR9)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62979" y="6062472"/>
            <a:ext cx="1920240" cy="320040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FF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FFB64D"/>
                </a:solidFill>
              </a:rPr>
              <a:t>AWS ElastiCache (DDR6)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0225" y="6062472"/>
            <a:ext cx="1920240" cy="320040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FFB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00" b="1">
                <a:solidFill>
                  <a:srgbClr val="FFB64D"/>
                </a:solidFill>
              </a:rPr>
              <a:t>AWS S3 (DDR7)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11457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9CB0BC"/>
                </a:solidFill>
              </a:rPr>
              <a:t>Lokales Deployment via docker-compose (DDR1)  ·  Migration zu AWS ist konfigurations-, nicht code-getrieben.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