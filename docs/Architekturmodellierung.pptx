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CF3F7"/>
                </a:solidFill>
              </a:rPr>
              <a:t>Aether Motors  ·  Logical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9CB0BC"/>
                </a:solidFill>
              </a:rPr>
              <a:t>3-Tier-Microservice-Webshop  ·  SSR Frontend, 7 Services, MySQL / Redis / MinIO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11457432" cy="1280160"/>
          </a:xfrm>
          <a:prstGeom prst="roundRect">
            <a:avLst/>
          </a:prstGeom>
          <a:solidFill>
            <a:srgbClr val="1F2A33"/>
          </a:solidFill>
          <a:ln w="9525">
            <a:solidFill>
              <a:srgbClr val="004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2760" y="1290320"/>
            <a:ext cx="2286000" cy="2540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00DAF8"/>
                </a:solidFill>
              </a:rPr>
              <a:t>PRESENTATION TIER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880360"/>
            <a:ext cx="11457432" cy="1828800"/>
          </a:xfrm>
          <a:prstGeom prst="roundRect">
            <a:avLst/>
          </a:prstGeom>
          <a:solidFill>
            <a:srgbClr val="1F2A33"/>
          </a:solidFill>
          <a:ln w="9525">
            <a:solidFill>
              <a:srgbClr val="004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2760" y="2981960"/>
            <a:ext cx="2286000" cy="2540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00DAF8"/>
                </a:solidFill>
              </a:rPr>
              <a:t>BUSINESS LOGIC TIER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120640"/>
            <a:ext cx="11457432" cy="1371600"/>
          </a:xfrm>
          <a:prstGeom prst="roundRect">
            <a:avLst/>
          </a:prstGeom>
          <a:solidFill>
            <a:srgbClr val="1F2A33"/>
          </a:solidFill>
          <a:ln w="9525">
            <a:solidFill>
              <a:srgbClr val="004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760" y="5222240"/>
            <a:ext cx="2286000" cy="2540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00DAF8"/>
                </a:solidFill>
              </a:rPr>
              <a:t>DATA TIER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1600200"/>
            <a:ext cx="2286000" cy="7315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Web Shop Frontend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Browser  ·  SSR HTML + CSS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2876" y="1600200"/>
            <a:ext cx="2743200" cy="7315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Web Shop Backend (SSR + Gateway)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Express + EJS  ·  Port 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8956" y="1737360"/>
            <a:ext cx="1280160" cy="457200"/>
          </a:xfrm>
          <a:prstGeom prst="roundRect">
            <a:avLst/>
          </a:prstGeom>
          <a:solidFill>
            <a:srgbClr val="0D1B2A"/>
          </a:solidFill>
          <a:ln w="6350">
            <a:solidFill>
              <a:srgbClr val="FF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B64D"/>
                </a:solidFill>
              </a:rPr>
              <a:t>Load Balancer
(Elastic Scale)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1965960"/>
            <a:ext cx="1156716.0" cy="0"/>
          </a:xfrm>
          <a:prstGeom prst="bentConnector3">
            <a:avLst/>
          </a:prstGeom>
          <a:ln w="15875">
            <a:solidFill>
              <a:srgbClr val="00DAF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778758" y="1864360"/>
            <a:ext cx="73152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i="1">
                <a:solidFill>
                  <a:srgbClr val="9CB0BC"/>
                </a:solidFill>
              </a:rPr>
              <a:t>HTTP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" y="3246120"/>
            <a:ext cx="2011680" cy="59436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Product Information Service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Node  ·  Port 3001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1724" y="3246120"/>
            <a:ext cx="2011680" cy="59436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Shopping Cart Service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Node  ·  Port 3002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35547" y="3246120"/>
            <a:ext cx="2011680" cy="59436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Order Service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Node  ·  Port 3003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29369" y="3246120"/>
            <a:ext cx="2011680" cy="59436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Media Service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Node  ·  Port 3004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21358" y="3977640"/>
            <a:ext cx="2011680" cy="59436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Route Service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Node  ·  Port 3005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8636" y="3977640"/>
            <a:ext cx="2011680" cy="59436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AI Service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Node + Gemini  ·  3006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55914" y="3977640"/>
            <a:ext cx="2011680" cy="59436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Roadmap Service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Node  ·  Port 3007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4476.0" y="2331720"/>
            <a:ext cx="0.0" cy="914400"/>
          </a:xfrm>
          <a:prstGeom prst="bentConnector3">
            <a:avLst/>
          </a:prstGeom>
          <a:ln w="15875">
            <a:solidFill>
              <a:srgbClr val="00DAF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728716" y="2687320"/>
            <a:ext cx="73152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i="1">
                <a:solidFill>
                  <a:srgbClr val="9CB0BC"/>
                </a:solidFill>
              </a:rPr>
              <a:t>HTTP / JSON</a:t>
            </a:r>
          </a:p>
        </p:txBody>
      </p:sp>
      <p:sp>
        <p:nvSpPr>
          <p:cNvPr id="25" name="Can 24"/>
          <p:cNvSpPr/>
          <p:nvPr/>
        </p:nvSpPr>
        <p:spPr>
          <a:xfrm>
            <a:off x="1584198" y="5532120"/>
            <a:ext cx="2194560" cy="868680"/>
          </a:xfrm>
          <a:prstGeom prst="can">
            <a:avLst/>
          </a:prstGeom>
          <a:solidFill>
            <a:srgbClr val="004E5A"/>
          </a:solidFill>
          <a:ln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MySQL  ·  Product DB</a:t>
            </a:r>
          </a:p>
          <a:p>
            <a:pPr algn="ctr"/>
            <a:r>
              <a:rPr sz="700">
                <a:solidFill>
                  <a:srgbClr val="ECF3F7"/>
                </a:solidFill>
              </a:rPr>
              <a:t>Database-per-Service (ADR7)</a:t>
            </a:r>
          </a:p>
        </p:txBody>
      </p:sp>
      <p:sp>
        <p:nvSpPr>
          <p:cNvPr id="26" name="Can 25"/>
          <p:cNvSpPr/>
          <p:nvPr/>
        </p:nvSpPr>
        <p:spPr>
          <a:xfrm>
            <a:off x="4997196" y="5532120"/>
            <a:ext cx="2194560" cy="868680"/>
          </a:xfrm>
          <a:prstGeom prst="can">
            <a:avLst/>
          </a:prstGeom>
          <a:solidFill>
            <a:srgbClr val="004E5A"/>
          </a:solidFill>
          <a:ln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Redis  ·  Cart Cache</a:t>
            </a:r>
          </a:p>
          <a:p>
            <a:pPr algn="ctr"/>
            <a:r>
              <a:rPr sz="700">
                <a:solidFill>
                  <a:srgbClr val="ECF3F7"/>
                </a:solidFill>
              </a:rPr>
              <a:t>Sliding TTL  ·  ADR8</a:t>
            </a:r>
          </a:p>
        </p:txBody>
      </p:sp>
      <p:sp>
        <p:nvSpPr>
          <p:cNvPr id="27" name="Can 26"/>
          <p:cNvSpPr/>
          <p:nvPr/>
        </p:nvSpPr>
        <p:spPr>
          <a:xfrm>
            <a:off x="8410194" y="5532120"/>
            <a:ext cx="2194560" cy="868680"/>
          </a:xfrm>
          <a:prstGeom prst="can">
            <a:avLst/>
          </a:prstGeom>
          <a:solidFill>
            <a:srgbClr val="004E5A"/>
          </a:solidFill>
          <a:ln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MinIO  ·  Media Bucket</a:t>
            </a:r>
          </a:p>
          <a:p>
            <a:pPr algn="ctr"/>
            <a:r>
              <a:rPr sz="700">
                <a:solidFill>
                  <a:srgbClr val="ECF3F7"/>
                </a:solidFill>
              </a:rPr>
              <a:t>S3 API  ·  ADR9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053742.4" y="3840480"/>
            <a:ext cx="627735.6000000001" cy="1691640"/>
          </a:xfrm>
          <a:prstGeom prst="bentConnector3">
            <a:avLst/>
          </a:prstGeom>
          <a:ln w="15875">
            <a:solidFill>
              <a:srgbClr val="00DAF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001850" y="4584700"/>
            <a:ext cx="73152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i="1">
                <a:solidFill>
                  <a:srgbClr val="9CB0BC"/>
                </a:solidFill>
              </a:rPr>
              <a:t>JDBC/SQL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47564.8" y="3840480"/>
            <a:ext cx="1346911.2000000002" cy="1691640"/>
          </a:xfrm>
          <a:prstGeom prst="bentConnector3">
            <a:avLst/>
          </a:prstGeom>
          <a:ln w="15875">
            <a:solidFill>
              <a:srgbClr val="00DAF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55260" y="4584700"/>
            <a:ext cx="73152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i="1">
                <a:solidFill>
                  <a:srgbClr val="9CB0BC"/>
                </a:solidFill>
              </a:rPr>
              <a:t>RESP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9507474.0" y="3840480"/>
            <a:ext cx="627735.5999999996" cy="1691640"/>
          </a:xfrm>
          <a:prstGeom prst="bentConnector3">
            <a:avLst/>
          </a:prstGeom>
          <a:ln w="15875">
            <a:solidFill>
              <a:srgbClr val="00DAF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455581" y="4584700"/>
            <a:ext cx="73152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i="1">
                <a:solidFill>
                  <a:srgbClr val="9CB0BC"/>
                </a:solidFill>
              </a:rPr>
              <a:t>S3 API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0194" y="5212080"/>
            <a:ext cx="2194560" cy="256032"/>
          </a:xfrm>
          <a:prstGeom prst="roundRect">
            <a:avLst/>
          </a:prstGeom>
          <a:solidFill>
            <a:srgbClr val="0D1B2A"/>
          </a:solidFill>
          <a:ln w="6350">
            <a:solidFill>
              <a:srgbClr val="FF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B64D"/>
                </a:solidFill>
              </a:rPr>
              <a:t>Browser ↘ image 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574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9CB0BC"/>
                </a:solidFill>
              </a:rPr>
              <a:t>Hinweis: nur das Web Shop Backend ist öffentlich erreichbar. Microservices sind ausschließlich vom Backend aus zugänglich (HTTP/JSON).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ECF3F7"/>
                </a:solidFill>
              </a:rPr>
              <a:t>Aether Motors  ·  Deployment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9CB0BC"/>
                </a:solidFill>
              </a:rPr>
              <a:t>Komponenten + Ziel-Cloud-Services (DDR1–DDR8)  ·  Lokal: Docker Compose  ·  Prod: AWS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11457432" cy="1280160"/>
          </a:xfrm>
          <a:prstGeom prst="roundRect">
            <a:avLst/>
          </a:prstGeom>
          <a:solidFill>
            <a:srgbClr val="1F2A33"/>
          </a:solidFill>
          <a:ln w="9525">
            <a:solidFill>
              <a:srgbClr val="004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2760" y="1290320"/>
            <a:ext cx="2286000" cy="2540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00DAF8"/>
                </a:solidFill>
              </a:rPr>
              <a:t>PRESENTATION TIER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880360"/>
            <a:ext cx="11457432" cy="1828800"/>
          </a:xfrm>
          <a:prstGeom prst="roundRect">
            <a:avLst/>
          </a:prstGeom>
          <a:solidFill>
            <a:srgbClr val="1F2A33"/>
          </a:solidFill>
          <a:ln w="9525">
            <a:solidFill>
              <a:srgbClr val="004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2760" y="2981960"/>
            <a:ext cx="2286000" cy="2540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00DAF8"/>
                </a:solidFill>
              </a:rPr>
              <a:t>BUSINESS LOGIC TIER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120640"/>
            <a:ext cx="11457432" cy="1234440"/>
          </a:xfrm>
          <a:prstGeom prst="roundRect">
            <a:avLst/>
          </a:prstGeom>
          <a:solidFill>
            <a:srgbClr val="1F2A33"/>
          </a:solidFill>
          <a:ln w="9525">
            <a:solidFill>
              <a:srgbClr val="004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760" y="5222240"/>
            <a:ext cx="2286000" cy="2540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l"/>
            <a:r>
              <a:rPr sz="1100" b="1">
                <a:solidFill>
                  <a:srgbClr val="00DAF8"/>
                </a:solidFill>
              </a:rPr>
              <a:t>DATA TIER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22876" y="1600200"/>
            <a:ext cx="2743200" cy="7315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Web Shop Backend</a:t>
            </a:r>
          </a:p>
          <a:p>
            <a:pPr algn="ctr"/>
            <a:r>
              <a:rPr sz="800">
                <a:solidFill>
                  <a:srgbClr val="9CB0BC"/>
                </a:solidFill>
              </a:rPr>
              <a:t>Express + EJS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48956" y="1737360"/>
            <a:ext cx="2011680" cy="457200"/>
          </a:xfrm>
          <a:prstGeom prst="roundRect">
            <a:avLst/>
          </a:prstGeom>
          <a:solidFill>
            <a:srgbClr val="0D1B2A"/>
          </a:solidFill>
          <a:ln w="6350">
            <a:solidFill>
              <a:srgbClr val="FF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B64D"/>
                </a:solidFill>
              </a:rPr>
              <a:t>AWS Elastic Beanstalk (DDR3)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7902" y="3246120"/>
            <a:ext cx="2011680" cy="5029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Product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1724" y="3246120"/>
            <a:ext cx="2011680" cy="5029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Cart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35547" y="3246120"/>
            <a:ext cx="2011680" cy="5029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Order 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29369" y="3246120"/>
            <a:ext cx="2011680" cy="5029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Media Service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902" y="3913632"/>
            <a:ext cx="2011680" cy="5029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Route 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1724" y="3913632"/>
            <a:ext cx="2011680" cy="5029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AI 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35547" y="3913632"/>
            <a:ext cx="2011680" cy="502920"/>
          </a:xfrm>
          <a:prstGeom prst="roundRect">
            <a:avLst/>
          </a:prstGeom>
          <a:solidFill>
            <a:srgbClr val="293742"/>
          </a:solidFill>
          <a:ln w="9525"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ECF3F7"/>
                </a:solidFill>
              </a:rPr>
              <a:t>Roadmap Service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535424"/>
            <a:ext cx="3108960" cy="411480"/>
          </a:xfrm>
          <a:prstGeom prst="roundRect">
            <a:avLst/>
          </a:prstGeom>
          <a:solidFill>
            <a:srgbClr val="0D1B2A"/>
          </a:solidFill>
          <a:ln w="6350">
            <a:solidFill>
              <a:srgbClr val="FF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B64D"/>
                </a:solidFill>
              </a:rPr>
              <a:t>AWS ECS Fargate (DDR4)  ·  Container per service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4535424"/>
            <a:ext cx="4297680" cy="411480"/>
          </a:xfrm>
          <a:prstGeom prst="roundRect">
            <a:avLst/>
          </a:prstGeom>
          <a:solidFill>
            <a:srgbClr val="0D1B2A"/>
          </a:solidFill>
          <a:ln w="6350">
            <a:solidFill>
              <a:srgbClr val="FF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B64D"/>
                </a:solidFill>
              </a:rPr>
              <a:t>Secrets via AWS Secrets Manager (DDR8)</a:t>
            </a:r>
          </a:p>
        </p:txBody>
      </p:sp>
      <p:sp>
        <p:nvSpPr>
          <p:cNvPr id="22" name="Can 21"/>
          <p:cNvSpPr/>
          <p:nvPr/>
        </p:nvSpPr>
        <p:spPr>
          <a:xfrm>
            <a:off x="1584198" y="5349240"/>
            <a:ext cx="2194560" cy="640080"/>
          </a:xfrm>
          <a:prstGeom prst="can">
            <a:avLst/>
          </a:prstGeom>
          <a:solidFill>
            <a:srgbClr val="004E5A"/>
          </a:solidFill>
          <a:ln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MySQL</a:t>
            </a:r>
          </a:p>
          <a:p>
            <a:pPr algn="ctr"/>
            <a:r>
              <a:rPr sz="700">
                <a:solidFill>
                  <a:srgbClr val="ECF3F7"/>
                </a:solidFill>
              </a:rPr>
              <a:t>Product DB</a:t>
            </a:r>
          </a:p>
        </p:txBody>
      </p:sp>
      <p:sp>
        <p:nvSpPr>
          <p:cNvPr id="23" name="Can 22"/>
          <p:cNvSpPr/>
          <p:nvPr/>
        </p:nvSpPr>
        <p:spPr>
          <a:xfrm>
            <a:off x="4997196" y="5349240"/>
            <a:ext cx="2194560" cy="640080"/>
          </a:xfrm>
          <a:prstGeom prst="can">
            <a:avLst/>
          </a:prstGeom>
          <a:solidFill>
            <a:srgbClr val="004E5A"/>
          </a:solidFill>
          <a:ln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Redis</a:t>
            </a:r>
          </a:p>
          <a:p>
            <a:pPr algn="ctr"/>
            <a:r>
              <a:rPr sz="700">
                <a:solidFill>
                  <a:srgbClr val="ECF3F7"/>
                </a:solidFill>
              </a:rPr>
              <a:t>Cart Cache</a:t>
            </a:r>
          </a:p>
        </p:txBody>
      </p:sp>
      <p:sp>
        <p:nvSpPr>
          <p:cNvPr id="24" name="Can 23"/>
          <p:cNvSpPr/>
          <p:nvPr/>
        </p:nvSpPr>
        <p:spPr>
          <a:xfrm>
            <a:off x="8410194" y="5349240"/>
            <a:ext cx="2194560" cy="640080"/>
          </a:xfrm>
          <a:prstGeom prst="can">
            <a:avLst/>
          </a:prstGeom>
          <a:solidFill>
            <a:srgbClr val="004E5A"/>
          </a:solidFill>
          <a:ln>
            <a:solidFill>
              <a:srgbClr val="00D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MinIO</a:t>
            </a:r>
          </a:p>
          <a:p>
            <a:pPr algn="ctr"/>
            <a:r>
              <a:rPr sz="700">
                <a:solidFill>
                  <a:srgbClr val="ECF3F7"/>
                </a:solidFill>
              </a:rPr>
              <a:t>Media Bucket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38478" y="6062472"/>
            <a:ext cx="2286000" cy="320040"/>
          </a:xfrm>
          <a:prstGeom prst="roundRect">
            <a:avLst/>
          </a:prstGeom>
          <a:solidFill>
            <a:srgbClr val="0D1B2A"/>
          </a:solidFill>
          <a:ln w="6350">
            <a:solidFill>
              <a:srgbClr val="FF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B64D"/>
                </a:solidFill>
              </a:rPr>
              <a:t>AWS RDS for MySQL (DDR5)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51476" y="6062472"/>
            <a:ext cx="2286000" cy="320040"/>
          </a:xfrm>
          <a:prstGeom prst="roundRect">
            <a:avLst/>
          </a:prstGeom>
          <a:solidFill>
            <a:srgbClr val="0D1B2A"/>
          </a:solidFill>
          <a:ln w="6350">
            <a:solidFill>
              <a:srgbClr val="FF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B64D"/>
                </a:solidFill>
              </a:rPr>
              <a:t>AWS ElastiCache for Redis (DDR6)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4474" y="6062472"/>
            <a:ext cx="2286000" cy="320040"/>
          </a:xfrm>
          <a:prstGeom prst="roundRect">
            <a:avLst/>
          </a:prstGeom>
          <a:solidFill>
            <a:srgbClr val="0D1B2A"/>
          </a:solidFill>
          <a:ln w="6350">
            <a:solidFill>
              <a:srgbClr val="FF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B64D"/>
                </a:solidFill>
              </a:rPr>
              <a:t>AWS S3 (DDR7)  ·  API-kompatibel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92240"/>
            <a:ext cx="114574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i="1">
                <a:solidFill>
                  <a:srgbClr val="9CB0BC"/>
                </a:solidFill>
              </a:rPr>
              <a:t>Lokales Deployment via docker-compose (DDR1)  ·  Migration zu AWS ist konfigurations-, nicht code-getrieben.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